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ABBCC"/>
    <a:srgbClr val="1D293B"/>
    <a:srgbClr val="000000"/>
    <a:srgbClr val="02C39A"/>
    <a:srgbClr val="CCDDEE"/>
    <a:srgbClr val="C2D7E4"/>
    <a:srgbClr val="727984"/>
    <a:srgbClr val="A0A8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16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3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12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548640"/>
            <a:ext cx="2194560" cy="21945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822960"/>
            <a:ext cx="1645920" cy="164592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</a:rPr>
              <a:t>🤖</a:t>
            </a:r>
            <a:endParaRPr lang="en-US" sz="5400" b="1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TRASH</a:t>
            </a:r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ROBOT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Ρομπότ σε Περιβάλλον Πισίνας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526030"/>
            <a:ext cx="8229600" cy="662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Προσομοίωση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Webots R2025a  |  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Ρομπότ: 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youBot</a:t>
            </a:r>
            <a:br>
              <a:rPr lang="el-GR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l-GR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Στέργιος-Αχιλλέας Παπαδόπουλος 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icsd22151</a:t>
            </a:r>
            <a:br>
              <a:rPr lang="el-GR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l-GR" sz="13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Στάυρος</a:t>
            </a:r>
            <a:r>
              <a:rPr lang="el-GR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Φιρογλάνης-Μοσχής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icsd22232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Μαΐου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971550"/>
          </a:xfrm>
          <a:prstGeom prst="roundRect">
            <a:avLst>
              <a:gd name="adj" fmla="val 6957"/>
            </a:avLst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l-GR" sz="1300" dirty="0">
              <a:solidFill>
                <a:srgbClr val="FFFFFF"/>
              </a:solidFill>
            </a:endParaRPr>
          </a:p>
          <a:p>
            <a:pPr algn="ctr"/>
            <a:r>
              <a:rPr lang="el-GR" sz="1300" dirty="0">
                <a:solidFill>
                  <a:srgbClr val="FFFFFF"/>
                </a:solidFill>
              </a:rPr>
              <a:t>Ένα πλήρως αυτόνομο ρομπότ που αναζητά ορατά σκουπίδια σε περιβάλλον πισίνας, τα εντοπίζει με κάμερα, αποφεύγει εμπόδια, τα πιάνει με τον βραχίονα </a:t>
            </a:r>
            <a:r>
              <a:rPr lang="el-GR" sz="1300" dirty="0" err="1">
                <a:solidFill>
                  <a:srgbClr val="FFFFFF"/>
                </a:solidFill>
              </a:rPr>
              <a:t>youBot</a:t>
            </a:r>
            <a:r>
              <a:rPr lang="el-GR" sz="1300" dirty="0">
                <a:solidFill>
                  <a:srgbClr val="FFFFFF"/>
                </a:solidFill>
              </a:rPr>
              <a:t> και τα ρίχνει σε ενσωματωμένο κάδο.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381304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6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l-GR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δούμε στην παρουσίαση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776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Στόχος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Σχεδιασμός και προσομοίωση ρομπότ που μπορεί να: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Βρίσκει σκουπίδια με κάμερα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Κινείται χωρίς να χτυπά σε αντικείμενα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Τα μαζεύει με φυσικό βραχίονα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Τα ρίχνει σε ενσωματωμένο κάδο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Επα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ληθεύει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ότι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έπ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εσ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μέσα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5155" y="1005840"/>
            <a:ext cx="43891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είναι ενδιαφέρον;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Αυτή η εργασία</a:t>
            </a:r>
            <a:r>
              <a:rPr lang="en-US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συνδυάζει πολλές έννοιες ρομποτικής σε ένα σύστημα:</a:t>
            </a:r>
          </a:p>
          <a:p>
            <a:endParaRPr lang="en-US" sz="1350" i="1" dirty="0">
              <a:solidFill>
                <a:srgbClr val="CCDD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Όρ</a:t>
            </a: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αση Υπολογιστή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Συνδυασμός</a:t>
            </a: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Αισθητήρων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Έλεγχος</a:t>
            </a: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Βραχίονα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Λήψη</a:t>
            </a: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Αποφάσεων (FSM)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Έλεγχος</a:t>
            </a: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αρθρώσεων για ακριβή κίνηση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Το Περιβάλλον και το Υλικό του Ρομπότ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EFF8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</a:t>
            </a:r>
            <a:r>
              <a:rPr lang="en-US" sz="15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Πισίν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Περιλαμβάνει: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Επιφάνεια &amp; άκρα πισίνας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Ομπρέλα &amp; ξαπλώστρες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Πετσέτες &amp; διακοσμήσεις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Σκουπίδια (2 στόχοι)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Κάνει την προσομοίωση να μοιάζει με πραγματικό σενάριο καθαρισμού!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097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Υλικό Ρομπότ (KUKA youBot)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776787"/>
              </p:ext>
            </p:extLst>
          </p:nvPr>
        </p:nvGraphicFramePr>
        <p:xfrm>
          <a:off x="3246120" y="1554480"/>
          <a:ext cx="5577840" cy="32186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Μέρος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κάνει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Κινητή Βάση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Κινείται με </a:t>
                      </a:r>
                      <a:r>
                        <a:rPr lang="en-US" sz="12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τροχούς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Κάμερα (320×200)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Εντοπίζει κόκκινα &amp; κίτρινα σκουπίδια βάσει χρώματος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Αισθητήρες Απόστασης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αισθητήρες: μπροστά, αριστερά, δεξιά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Βραχίονας (5 αρθρώσεις)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οθετεί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</a:t>
                      </a:r>
                      <a:r>
                        <a:rPr lang="el-GR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ον βραχίονα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κρι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ώς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l-GR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Δαγκάνα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Πιάνει και κρατά φυσικά τα αντικείμενα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Ενσωματωμένος Κάδος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Αποθηκεύει τα σκουπίδια στο ρομπότ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Rotational motors</a:t>
                      </a:r>
                      <a:endParaRPr lang="en-US" sz="1200" dirty="0">
                        <a:solidFill>
                          <a:srgbClr val="1D293B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Κινούν τις αρθρώσεις του βραχίονα με ακριβή έλεγχο γωνίας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Βλέ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Ρομπότ;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12283A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Σάρωση Κάμερας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ρομπότ σαρώνει το οπτικ</a:t>
            </a:r>
            <a:r>
              <a:rPr lang="el-GR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</a:t>
            </a: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του</a:t>
            </a: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13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εδίο</a:t>
            </a: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</a:t>
            </a: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</a:t>
            </a:r>
            <a:r>
              <a:rPr lang="el-GR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σκουπίδια</a:t>
            </a: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43200" cy="3749040"/>
          </a:xfrm>
          <a:prstGeom prst="rect">
            <a:avLst/>
          </a:prstGeom>
          <a:solidFill>
            <a:srgbClr val="12283A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Βαθμός Εμπιστοσύνης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κάθε εντοπισμένο αντικείμενο υπολογίζει βαθμό βάσει αριθμού pixels, πλάτους και κεντρικής απόκλισης. 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743200" cy="3749040"/>
          </a:xfrm>
          <a:prstGeom prst="rect">
            <a:avLst/>
          </a:prstGeom>
          <a:solidFill>
            <a:srgbClr val="12283A"/>
          </a:solidFill>
          <a:ln w="25400">
            <a:solidFill>
              <a:srgbClr val="5A4FC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Αισθητήρες Απόστασης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αισθητήρες (μπροστά, αριστερά, δεξιά) βοηθούν το ρομπότ να αποφεύγει τοίχους και εμπόδια ενώ πλοηγείται προς τον στόχο.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Το FSM – Εγκέφαλος του Ρομπότ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Μιa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Μηχ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νή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Καταστάσεων ελέγχει τι κάνει το ρομπότ κάθε στιγμή. Προχωρά στο επόμενο βήμα μόνο όταν ολοκληρωθεί το τρέχον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7101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ΑΡΧΙΚΟΠΟΙΗΣΗ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Αρχικοποίηση του </a:t>
            </a:r>
            <a:r>
              <a:rPr lang="el-G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ί</a:t>
            </a:r>
            <a:r>
              <a:rPr lang="el-G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ονα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65376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90195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ΑΝΑΖΗΤΗΣΗ ΣΤΟΧΟΥ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Κάμερα </a:t>
            </a:r>
            <a:r>
              <a:rPr lang="el-G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σκανάρει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για σκουπίδια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4048" y="253288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ΠΗΓΑΙΝΩ ΣΤΟΝ ΣΤΟΧΟ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Κατεύθυνση προς στόχο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127248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316382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ΛΕΠΤΗ ΕΥΘΥΓΡΑΜΜΙΣΗ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Διόρθωση μέσω κάμερας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" y="3758184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379476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ARM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Βραχίονας ετοιμάζεται για σήκωμα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389120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442569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ΑΡΠΑΓΗ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Βραχίονας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κλείνει γύρω από αντικείμενο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127101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ΑΝΥΨΩΣΗ ΑΝΤΙΚΕΙΜΕΝΟΥ 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Βραχίονας σηκώνεται,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ελέγχος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ότι δούλεψε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865376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190195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ΜΕΤΑΦΟΡΑ ΣΤΟΝ ΚΑΔΟ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Μεταφορά σκουπιδιών στον κάδο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496312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253288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ΑΠΟΔΕΣΜΕΥΣΗ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Άνοιγμα βραχίονα πάνω από τον κάδο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127248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8888" y="316382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ΕΠΑΛΗΘΕΥΣΗ ΡΙΨΗΣ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Επιβεβαιώνει ότι το αντικείμενο βρίσκεται μέσα στον κάδο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758184"/>
            <a:ext cx="4206240" cy="512064"/>
          </a:xfrm>
          <a:prstGeom prst="rect">
            <a:avLst/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379476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ΟΛΟΚΛΗΡΩΘΗΚΕ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trash collected! 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Rotational Motors &amp; Έλεγχος Βραχίονα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ελέγχονται οι αρθρώσεις στο Webots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άρθρωση πρέπει να φτάσει σε συγκεκριμένη γωνία ώστε ο βραχίονας να τοποθετηθεί σωστά πάνω από το σκουπίδι.</a:t>
            </a:r>
          </a:p>
          <a:p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Webots οι αρθρώσεις ελέγχονται </a:t>
            </a:r>
            <a:r>
              <a:rPr lang="en-US" sz="13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RotationalMotor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ο controller ορίζει θέση, ταχύτητα και διαθέσιμη ροπή.</a:t>
            </a:r>
          </a:p>
          <a:p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Έτσι το ρομπότ εκτελεί επαναλαμβανόμενες κινήσεις για μάζεμα, ανύψωση, μεταφορά και ρίψη.</a:t>
            </a:r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Θέσεις Βραχίονα που Χρησιμοποιούνται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012247"/>
              </p:ext>
            </p:extLst>
          </p:nvPr>
        </p:nvGraphicFramePr>
        <p:xfrm>
          <a:off x="4754880" y="1554480"/>
          <a:ext cx="4114800" cy="29900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Θέση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Πότε χρησιμοποιείται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Αρχική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Εκκίνηση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και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επαναφορά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Κατέβασμα για Μάζεμα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Πλησιάζει προς τα σκουπίδια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Θέση Αρπαγής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Βραχίονας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κλείνει γύρω από αντικείμενο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Ανύψωση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Ανύψωση</a:t>
                      </a: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ντικειμένου</a:t>
                      </a: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</a:t>
                      </a: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ό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το έδαφος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Μεταφορά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Μεταφορά στον κάδο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Ρίψη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Άνοιγμα βραχίονα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π</a:t>
                      </a: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άνω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από τον κάδο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Μάζεμα &amp; Ρίψη: Πώς Λειτουργεί Πραγματικά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Ευθυγράμμιση Κάμερας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52704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ρομπότ κεντράρει το αντικείμενο στο πλαίσιο κάμερας χρησιμοποιώντας λεπτές διορθώσεις σε επίπεδο pixel.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Κατέβασμα Βραχίονα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52704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motors κινούν 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τον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 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θέση μαζέματος.</a:t>
            </a:r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Κλείσιμο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6208" y="152704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l-GR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βραχίονας 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κλείνει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φυσικά γύρω από 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α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ντικείμενο</a:t>
            </a:r>
            <a:r>
              <a:rPr lang="el-GR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0815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Ανύψωση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" y="349300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Μετά την ανύψωση, το ρομπότ ελέγχει τη θέση του αντικειμένου για να επιβεβαιώσει ότι πιάστηκε.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30815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 Ρίψη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49300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l-GR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βραχίονας 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νοίγει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μόνο όταν επιβεβαιωθεί ότι το αντικείμενο βρίσκεται πάνω από την ζώνη του κάδου.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0815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Επαλήθευση &amp; Συνέχεια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36208" y="349300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ελεγκτής επαληθεύει ότι το αντικείμενο παρέμεινε μέσα πριν προχωρήσει στον επόμενο στόχο.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Πραγματική Έξοδος: Αρχεία Τηλεμετρίας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2606040"/>
          </a:xfrm>
          <a:prstGeom prst="rect">
            <a:avLst/>
          </a:prstGeom>
          <a:solidFill>
            <a:srgbClr val="0D1B2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σημαίνουν τα ποσοστά: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Ανίχνευση κάμερας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 vision): </a:t>
            </a:r>
            <a:r>
              <a:rPr lang="el-GR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l-GR" sz="1200" dirty="0">
                <a:solidFill>
                  <a:srgbClr val="000000"/>
                </a:solidFill>
              </a:rPr>
              <a:t>ναγνώριση του στόχου μέσα στο περιβάλλον.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617720" y="4248973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l-GR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Ανίχνευση λαβής (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Gripper):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Πιθανότητα να έπιασε το σωστό </a:t>
            </a:r>
            <a:r>
              <a:rPr lang="el-G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αντικέιμενο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636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Ανίχνευση κάδου(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drop): </a:t>
            </a:r>
            <a:r>
              <a:rPr lang="el-GR" sz="1200" dirty="0"/>
              <a:t>Βαθμός σιγουριάς ότι το αντικείμενο βρίσκεται πάνω από τον κάδο.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4636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Απόφαση 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FSM: </a:t>
            </a:r>
            <a:r>
              <a:rPr lang="el-GR" sz="1200" dirty="0"/>
              <a:t>Συνδυαστικό σκορ για την απόφαση του επόμενου βήματος του FSM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5C8F63-36D9-90B1-078E-6C1E128B7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10" y="1691640"/>
            <a:ext cx="8306710" cy="15279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🕹️</a:t>
            </a: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Robot Controls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2606040"/>
          </a:xfrm>
          <a:prstGeom prst="rect">
            <a:avLst/>
          </a:prstGeom>
          <a:solidFill>
            <a:srgbClr val="0D1B2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52666" y="1313147"/>
            <a:ext cx="3456388" cy="2195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[0.00s] WEBSERVER — manual control panel started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url=http://127.0.0.1:8765</a:t>
            </a:r>
          </a:p>
          <a:p>
            <a:endParaRPr lang="en-US" sz="1050" dirty="0">
              <a:solidFill>
                <a:srgbClr val="88888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Χρήση: debugging και testing χωρίς να αντικαθιστά την αυτόνομη λειτουργία.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mode ON/OFF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Κίνηση βάσης: forward / back / strafe / turn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presets: reset, pickup, lift, transport, bin drop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Gripper: open / close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status JSON: FSM state, selected target, sensors, arm joints</a:t>
            </a:r>
          </a:p>
        </p:txBody>
      </p:sp>
      <p:sp>
        <p:nvSpPr>
          <p:cNvPr id="7" name="Text 5"/>
          <p:cNvSpPr/>
          <p:nvPr/>
        </p:nvSpPr>
        <p:spPr>
          <a:xfrm>
            <a:off x="274320" y="375530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προσφέρει το manual panel:</a:t>
            </a:r>
          </a:p>
        </p:txBody>
      </p:sp>
      <p:sp>
        <p:nvSpPr>
          <p:cNvPr id="8" name="Text 6"/>
          <p:cNvSpPr/>
          <p:nvPr/>
        </p:nvSpPr>
        <p:spPr>
          <a:xfrm>
            <a:off x="274320" y="4127327"/>
            <a:ext cx="4029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βλέπουμε live την κατάσταση FSM, τον στόχο και τις τιμές αισθητήρων.</a:t>
            </a:r>
          </a:p>
        </p:txBody>
      </p:sp>
      <p:sp>
        <p:nvSpPr>
          <p:cNvPr id="9" name="Text 7"/>
          <p:cNvSpPr/>
          <p:nvPr/>
        </p:nvSpPr>
        <p:spPr>
          <a:xfrm>
            <a:off x="4617720" y="4127327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δοκιμάζουμε βάση, βραχίονα και δαγκάνα πριν τρέξει ο πλήρης αυτοματισμός.</a:t>
            </a:r>
          </a:p>
        </p:txBody>
      </p:sp>
      <p:sp>
        <p:nvSpPr>
          <p:cNvPr id="10" name="Text 8"/>
          <p:cNvSpPr/>
          <p:nvPr/>
        </p:nvSpPr>
        <p:spPr>
          <a:xfrm>
            <a:off x="274320" y="4704929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</a:t>
            </a:r>
          </a:p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βρίσκουμε σωστά σημεία pickup/drop για πιο σταθερή συλλογή.</a:t>
            </a:r>
          </a:p>
        </p:txBody>
      </p:sp>
      <p:sp>
        <p:nvSpPr>
          <p:cNvPr id="11" name="Text 9"/>
          <p:cNvSpPr/>
          <p:nvPr/>
        </p:nvSpPr>
        <p:spPr>
          <a:xfrm>
            <a:off x="4617720" y="4705247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σημαντικό:</a:t>
            </a:r>
          </a:p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εργαλείο ελέγχου και όχι αντικατάσταση της αυτόνομης FSM λειτουργίας.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F95C0B-F569-D1D4-3B4A-938E619DB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87" y="1149263"/>
            <a:ext cx="4152013" cy="252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Αποτελέσματα &amp; Περιορισμοί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840480"/>
          </a:xfrm>
          <a:prstGeom prst="rect">
            <a:avLst/>
          </a:prstGeom>
          <a:solidFill>
            <a:srgbClr val="E8F8F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8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</a:t>
            </a:r>
            <a:r>
              <a:rPr lang="el-GR" sz="1600" b="1" dirty="0" err="1">
                <a:solidFill>
                  <a:srgbClr val="18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ίες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92555"/>
            <a:ext cx="3657600" cy="3499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Εντο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πίζει σκουπίδια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Πιάνει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πραγματικό χρόνο</a:t>
            </a:r>
            <a:endParaRPr lang="en-US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Ρίψη μόνο πάνω από την επιφάνεια του κάδου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Επαληθεύει ότι το αντικείμενο παρέμεινε στον κάδο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Διαχειρίζεται επαναλήψεις αν το μάζεμα αποτύχει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Λειτουργεί αυτόνομα</a:t>
            </a:r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terminal δείχνει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ζωντ</a:t>
            </a: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 αποτελέσματα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4297680" cy="3840480"/>
          </a:xfrm>
          <a:prstGeom prst="rect">
            <a:avLst/>
          </a:prstGeom>
          <a:solidFill>
            <a:srgbClr val="FFF3E8"/>
          </a:solidFill>
          <a:ln w="25400">
            <a:solidFill>
              <a:srgbClr val="E88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Τρέχοντες Περιορισμοί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πλοήγηση δεν έχει πλήρη χάρτη /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ασμό διαδρομής</a:t>
            </a:r>
            <a:endParaRPr lang="el-GR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Περιορισμένη κίνηση βραχίονα</a:t>
            </a:r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Αδυναμία συλλογής περίπλοκων σχημάτων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έχει δοκιμαστεί σε πραγματικό υλικό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703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sz="1000" i="1" dirty="0">
                <a:solidFill>
                  <a:schemeClr val="accent2">
                    <a:lumMod val="50000"/>
                  </a:schemeClr>
                </a:solidFill>
              </a:rPr>
              <a:t>Μελλοντικές Ιδέες: Πλήρη πλοήγηση SLAM, περισσότερους τύπους απορριμμάτων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πέρασμα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κατασκευάσαμε: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2029968" cy="2331720"/>
          </a:xfrm>
          <a:prstGeom prst="rect">
            <a:avLst/>
          </a:prstGeom>
          <a:solidFill>
            <a:srgbClr val="12283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Αντίληψη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670048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Κάμερα + αισθητήρες απόστασης διαβάζουν το περιβάλλον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1645920"/>
            <a:ext cx="2029968" cy="2331720"/>
          </a:xfrm>
          <a:prstGeom prst="rect">
            <a:avLst/>
          </a:prstGeom>
          <a:solidFill>
            <a:srgbClr val="12283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1737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22860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Απόφαση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42032" y="2670048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λογική FSM επιλέγει τη σωστή </a:t>
            </a:r>
            <a:r>
              <a:rPr lang="en-US" sz="12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ενέργει</a:t>
            </a: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1645920"/>
            <a:ext cx="2029968" cy="2331720"/>
          </a:xfrm>
          <a:prstGeom prst="rect">
            <a:avLst/>
          </a:prstGeom>
          <a:solidFill>
            <a:srgbClr val="12283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6864" y="1737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🦾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22860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Δράση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670048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+ βραχίονας μαζεύουν τα σκουπίδια</a:t>
            </a:r>
          </a:p>
        </p:txBody>
      </p:sp>
      <p:sp>
        <p:nvSpPr>
          <p:cNvPr id="17" name="Shape 15"/>
          <p:cNvSpPr/>
          <p:nvPr/>
        </p:nvSpPr>
        <p:spPr>
          <a:xfrm>
            <a:off x="6803136" y="1645920"/>
            <a:ext cx="2029968" cy="2331720"/>
          </a:xfrm>
          <a:prstGeom prst="rect">
            <a:avLst/>
          </a:prstGeom>
          <a:solidFill>
            <a:srgbClr val="12283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3136" y="1737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03136" y="22860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Επαλήθευση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94576" y="2670048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ρομπότ επιβεβαιώνει κάθε </a:t>
            </a:r>
            <a:r>
              <a:rPr lang="el-GR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βήμα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i="1" dirty="0">
                <a:solidFill>
                  <a:srgbClr val="FFFFFF"/>
                </a:solidFill>
              </a:rPr>
              <a:t>Demo </a:t>
            </a:r>
            <a:r>
              <a:rPr lang="el-GR" i="1" dirty="0">
                <a:solidFill>
                  <a:srgbClr val="FFFFFF"/>
                </a:solidFill>
              </a:rPr>
              <a:t>του ρομπότ:</a:t>
            </a:r>
            <a:br>
              <a:rPr lang="en-US" i="1" dirty="0">
                <a:solidFill>
                  <a:srgbClr val="FFFFFF"/>
                </a:solidFill>
              </a:rPr>
            </a:br>
            <a:r>
              <a:rPr lang="en-US" i="1" dirty="0">
                <a:solidFill>
                  <a:srgbClr val="FFFFFF"/>
                </a:solidFill>
              </a:rPr>
              <a:t>https://youtu.be/ULplpxjzaOo</a:t>
            </a:r>
            <a:endParaRPr lang="el-GR" sz="1400" dirty="0">
              <a:solidFill>
                <a:srgbClr val="FFFFFF"/>
              </a:solidFill>
              <a:effectLst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971</Words>
  <Application>Microsoft Office PowerPoint</Application>
  <PresentationFormat>On-screen Show (16:9)</PresentationFormat>
  <Paragraphs>175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Trash Collector Robot</dc:title>
  <dc:subject>PptxGenJS Presentation</dc:subject>
  <dc:creator>Αχιλλέας</dc:creator>
  <cp:lastModifiedBy>Αχιλλέας Παπαδόπουλος</cp:lastModifiedBy>
  <cp:revision>24</cp:revision>
  <dcterms:created xsi:type="dcterms:W3CDTF">2026-05-24T20:30:10Z</dcterms:created>
  <dcterms:modified xsi:type="dcterms:W3CDTF">2026-05-28T14:00:43Z</dcterms:modified>
</cp:coreProperties>
</file>