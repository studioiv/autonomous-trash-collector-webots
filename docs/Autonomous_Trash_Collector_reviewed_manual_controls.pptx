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7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C2D7E4"/>
    <a:srgbClr val="727984"/>
    <a:srgbClr val="A0A8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presProps" Target="presProps.xml" /><ns0:Relationship Id="rId3" Type="http://schemas.openxmlformats.org/officeDocument/2006/relationships/slide" Target="slides/slide2.xml" /><ns0:Relationship Id="rId7" Type="http://schemas.openxmlformats.org/officeDocument/2006/relationships/slide" Target="slides/slide6.xml" /><ns0:Relationship Id="rId12" Type="http://schemas.openxmlformats.org/officeDocument/2006/relationships/notesMaster" Target="notesMasters/notesMaster1.xml" /><ns0:Relationship Id="rId2" Type="http://schemas.openxmlformats.org/officeDocument/2006/relationships/slide" Target="slides/slide1.xml" /><ns0:Relationship Id="rId16" Type="http://schemas.openxmlformats.org/officeDocument/2006/relationships/tableStyles" Target="tableStyles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slide" Target="slides/slide10.xml" /><ns0:Relationship Id="rId5" Type="http://schemas.openxmlformats.org/officeDocument/2006/relationships/slide" Target="slides/slide4.xml" /><ns0:Relationship Id="rId15" Type="http://schemas.openxmlformats.org/officeDocument/2006/relationships/theme" Target="theme/theme1.xml" /><ns0:Relationship Id="rId10" Type="http://schemas.openxmlformats.org/officeDocument/2006/relationships/slide" Target="slides/slide9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4" Type="http://schemas.openxmlformats.org/officeDocument/2006/relationships/viewProps" Target="viewProps.xml" /><ns0:Relationship Id="rId17" Type="http://schemas.openxmlformats.org/officeDocument/2006/relationships/slide" Target="slides/slide11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7125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548640"/>
            <a:ext cx="2194560" cy="219456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822960"/>
            <a:ext cx="1645920" cy="164592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949440" y="9144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🤖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TRASH</a:t>
            </a:r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ROBOT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Ρομπότ σε Περιβάλλον Πισίνας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Μάθημα: </a:t>
            </a: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Ρομποτική  |  </a:t>
            </a: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Προσομοίωση: </a:t>
            </a: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Webots R2025a  |  </a:t>
            </a: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Ρομπότ: </a:t>
            </a: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KUKA youBot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Μαΐου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1C7293">
              <a:alpha val="2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3813048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Ένα πλήρως αυτόνομο ρομπότ που αναζητά ορατά σκουπίδια σε περιβάλλον πισίνας, τα εντοπίζει με κάμερα, αποφεύγει εμπόδια, τα πιάνει με τον βραχίονα youBot και τα ρίχνει σε ενσωματωμένο κάδο.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Slide 2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</a:t>
            </a:r>
            <a:r>
              <a:rPr lang="el-GR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θα δούμε στην παρουσίαση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97764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Στόχος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Σχεδιασμός και προσομοίωση ρομπότ που μπορεί να: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Βρίσκει σκουπίδια με κάμερα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Κινείται χωρίς να χτυπά σε αντικείμενα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Τα μαζεύει με φυσικό βραχίονα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Τα ρίχνει σε ενσωματωμένο κάδο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Επαληθεύει ότι έπεσαν μέσα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80560" y="1005840"/>
            <a:ext cx="438912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3440" y="1143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Γιατί είναι ενδιαφέρον;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1600200"/>
            <a:ext cx="4023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i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Αυτό το έργο συνδυάζει πολλές έννοιες ρομποτικής σε ένα σύστημα:</a:t>
            </a:r>
          </a:p>
          <a:p>
            <a:r>
              <a:rPr lang="en-US" sz="1350" i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  <a:p>
            <a:r>
              <a:rPr lang="en-US" sz="1350" i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Όραση Υπολογιστή</a:t>
            </a:r>
          </a:p>
          <a:p>
            <a:r>
              <a:rPr lang="en-US" sz="1350" i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Σύντηξη Αισθητήρων</a:t>
            </a:r>
          </a:p>
          <a:p>
            <a:r>
              <a:rPr lang="en-US" sz="1350" i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Έλεγχος Βραχίονα</a:t>
            </a:r>
          </a:p>
          <a:p>
            <a:r>
              <a:rPr lang="en-US" sz="1350" i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Λήψη Αποφάσεων (FSM)</a:t>
            </a:r>
          </a:p>
          <a:p>
            <a:r>
              <a:rPr lang="en-US" sz="1350" i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Έλεγχος αρθρώσεων για ακριβή κίνηση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powerpoint/2010/main" xmlns:ns3="http://schemas.microsoft.com/office/drawing/2014/main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🏊  Το Περιβάλλον και το Υλικό του Ρομπότ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749040"/>
          </a:xfrm>
          <a:prstGeom prst="rect">
            <a:avLst/>
          </a:prstGeom>
          <a:solidFill>
            <a:srgbClr val="EFF8FB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</a:t>
            </a:r>
            <a:r>
              <a:rPr lang="en-US" sz="1500" b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Πισίν</a:t>
            </a: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Περιλαμβάνει: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Επιφάνεια &amp; άκρα πισίνας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Ομπρέλα &amp; ξαπλώστρες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Πετσέτες &amp; διακοσμήσεις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Σκουπίδια (2 στόχοι)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Κάνει την προσομοίωση να μοιάζει με πραγματικό σενάριο καθαρισμού!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46120" y="10972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Υλικό Ρομπότ (KUKA youBot)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ns2:modId val="3779563222"/>
              </p:ext>
            </p:extLst>
          </p:nvPr>
        </p:nvGraphicFramePr>
        <p:xfrm>
          <a:off x="3246120" y="1554480"/>
          <a:ext cx="5577840" cy="321868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ns3:colId val="20000"/>
                    </a:ext>
                  </a:extLst>
                </a:gridCol>
                <a:gridCol w="3566160">
                  <a:extLst>
                    <a:ext uri="{9D8B030D-6E8A-4147-A177-3AD203B41FA5}">
                      <ns3:colId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Μέρος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Τι κάνει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Κινητή Βάση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Κινείται με 4 τροχούς (omni drive)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Κάμερα (320×200)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Εντοπίζει κόκκινα &amp; κίτρινα σκουπίδια βάσει χρώματος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Αισθητήρες Απόστασης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αισθητήρες: μπροστά, αριστερά, δεξιά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Βραχίονας (5 αρθρώσεις)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Τοποθετεί το δάκτυλο ακριβώς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Δάκτυλο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Πιάνει και κρατά φυσικά τα αντικείμενα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Ενσωματωμένος Κάδος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Αποθηκεύει τα σκουπίδια στο ρομπότ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Rotational Motors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Κινούν τις αρθρώσεις του βραχίονα με ακριβή έλεγχο γωνίας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Πώς "Βλέπει" το Ρομπότ;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3749040"/>
          </a:xfrm>
          <a:prstGeom prst="rect">
            <a:avLst/>
          </a:prstGeom>
          <a:solidFill>
            <a:srgbClr val="12283A"/>
          </a:solidFill>
          <a:ln w="254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Σάρωση Κάμερας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ρομπότ σαρώνει το οπτικ</a:t>
            </a:r>
            <a:r>
              <a:rPr lang="el-GR" sz="13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</a:t>
            </a:r>
            <a:r>
              <a:rPr lang="en-US" sz="13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του</a:t>
            </a:r>
            <a:r>
              <a:rPr lang="en-US" sz="13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π</a:t>
            </a:r>
            <a:r>
              <a:rPr lang="en-US" sz="1300" dirty="0" err="1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εδίο</a:t>
            </a:r>
            <a:r>
              <a:rPr lang="en-US" sz="13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για κόκκινα και κίτρινα σκουπίδια.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051560"/>
            <a:ext cx="2743200" cy="3749040"/>
          </a:xfrm>
          <a:prstGeom prst="rect">
            <a:avLst/>
          </a:prstGeom>
          <a:solidFill>
            <a:srgbClr val="12283A"/>
          </a:solidFill>
          <a:ln w="254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37560" y="1188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Βαθμός Εμπιστοσύνης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37560" y="169164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 κάθε εντοπισμένο αντικείμενο υπολογίζει βαθμό βάσει αριθμού pixels, πλάτους και κεντρικής απόκλισης. 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051560"/>
            <a:ext cx="2743200" cy="3749040"/>
          </a:xfrm>
          <a:prstGeom prst="rect">
            <a:avLst/>
          </a:prstGeom>
          <a:solidFill>
            <a:srgbClr val="12283A"/>
          </a:solidFill>
          <a:ln w="25400">
            <a:solidFill>
              <a:srgbClr val="5A4FC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63640" y="1188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A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Αισθητήρες Απόστασης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63640" y="169164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αισθητήρες (μπροστά, αριστερά, δεξιά) βοηθούν το ρομπότ να αποφεύγει τοίχους και εμπόδια ενώ πλοηγείται προς τον στόχο.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Χωρίς μηχανική μάθηση — μόνο ανίχνευση χρώματος. Απλό, γρήγορο και ερμηνεύσιμο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Το FSM – Εγκέφαλος του Ρομπότ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Μια Πεπερασμένη Μηχανή Καταστάσεων ελέγχει τι κάνει το ρομπότ κάθε στιγμή. Προχωρά στο επόμενο βήμα μόνο όταν ολοκληρωθεί το τρέχον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20624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271016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ΑΡΧΙΚΟΠΟΙΗΣΗ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l-G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Αρχικοποίηση του χεριού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865376"/>
            <a:ext cx="420624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901952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ΑΝΑΖΗΤΗΣΗ ΣΤΟΧΟΥ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l-G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Κάμερα </a:t>
            </a:r>
            <a:r>
              <a:rPr lang="el-GR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σκανάρει</a:t>
            </a:r>
            <a:r>
              <a:rPr lang="el-G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για σκουπίδια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496312"/>
            <a:ext cx="420624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4048" y="2532888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ΠΗΓΑΙΝΩ ΣΤΟΝ ΣΤΟΧΟ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r>
              <a:rPr lang="el-G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Κατεύθυνση προς στόχο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127248"/>
            <a:ext cx="420624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3163824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ΛΕΠΤΗ ΕΥΘΥΓΡΑΜΜΙΣΗ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l-G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Διόρθωση μέσω κάμερας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9748" y="3758184"/>
            <a:ext cx="420624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3794760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ARM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l-G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Βραχίονας ετοιμάζεται για σήκωμα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389120"/>
            <a:ext cx="420624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" y="4425696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ΑΡΠΑΓΗ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l-G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Βραχίονας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κλείνει γύρω από αντικείμενο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1234440"/>
            <a:ext cx="420624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18888" y="1271016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ΑΝΥΨΩΣΗ ΑΝΤΙΚΕΙΜΕΝΟΥ  </a:t>
            </a:r>
            <a:r>
              <a:rPr lang="el-G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Βραχίονας σηκώνεται,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l-GR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ελένγχος</a:t>
            </a:r>
            <a:r>
              <a:rPr lang="el-G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ότι δούλεψε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1865376"/>
            <a:ext cx="420624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18888" y="1901952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ΜΕΤΑΦΟΡΑ ΣΤΟΝ ΚΑΔΟ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l-G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Μεταφορά στον κάδο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496312"/>
            <a:ext cx="420624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18888" y="2532888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ΑΠΟΔΕΣΜΕΥΣΗ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l-G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Άνοιγμα βραχίονα πάνω από τον κάδο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127248"/>
            <a:ext cx="420624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18888" y="3163824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ΕΠΑΛΗΘΕΥΣΗ ΡΙΨΗΣ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Επιβεβαιώνει ότι το αντικείμενο βρίσκεται μέσα στον κάδο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3758184"/>
            <a:ext cx="4206240" cy="512064"/>
          </a:xfrm>
          <a:prstGeom prst="rect">
            <a:avLst/>
          </a:prstGeom>
          <a:solidFill>
            <a:srgbClr val="02C39A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18888" y="3794760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ΟΛΟΚΛΗΡΩΘΗΚΕ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All trash collected! 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powerpoint/2010/main" xmlns:ns3="http://schemas.microsoft.com/office/drawing/2014/main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Rotational Motors &amp; Έλεγχος Βραχίονα</a:t>
            </a:r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Πώς ελέγχονται οι αρθρώσεις στο Webots</a:t>
            </a:r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41148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Αυτό είναι σημαντικό γιατί:</a:t>
            </a:r>
          </a:p>
          <a:p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άρθρωση πρέπει να φτάσει σε συγκεκριμένη γωνία ώστε ο βραχίονας να τοποθετηθεί σωστά πάνω από το σκουπίδι.</a:t>
            </a:r>
          </a:p>
          <a:p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 Webots οι αρθρώσεις ελέγχονται με RotationalMotor: ο controller ορίζει θέση, ταχύτητα και διαθέσιμη ροπή.</a:t>
            </a:r>
          </a:p>
          <a:p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Έτσι το ρομπότ εκτελεί επαναλαμβανόμενες κινήσεις για μάζεμα, ανύψωση, μεταφορά και ρίψη.</a:t>
            </a:r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Θέσεις Βραχίονα που Χρησιμοποιούνται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ns2:modId val="1294257521"/>
              </p:ext>
            </p:extLst>
          </p:nvPr>
        </p:nvGraphicFramePr>
        <p:xfrm>
          <a:off x="4754880" y="1554480"/>
          <a:ext cx="4114800" cy="299008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ns3:colId val="20000"/>
                    </a:ext>
                  </a:extLst>
                </a:gridCol>
                <a:gridCol w="2377440">
                  <a:extLst>
                    <a:ext uri="{9D8B030D-6E8A-4147-A177-3AD203B41FA5}">
                      <ns3:colId val="20001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Θέση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Πότε χρησιμοποιείται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Μηδέν / Αρχική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Εκκίνηση &amp; επαναφορά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Κατέβασμα για Μάζεμα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Πλησιάζει προς τα σκουπίδια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Θέση Αρπαγής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l-GR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Βραχίονας</a:t>
                      </a: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κλείνει γύρω από αντικείμενο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Ανύψωση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Ανύψωση</a:t>
                      </a:r>
                      <a:r>
                        <a:rPr lang="el-GR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</a:t>
                      </a:r>
                      <a:r>
                        <a:rPr lang="en-US" sz="12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ντικε</a:t>
                      </a:r>
                      <a:r>
                        <a:rPr lang="el-GR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ι</a:t>
                      </a: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</a:t>
                      </a:r>
                      <a:r>
                        <a:rPr lang="el-GR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έ</a:t>
                      </a:r>
                      <a:r>
                        <a:rPr lang="en-US" sz="12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νο</a:t>
                      </a:r>
                      <a:r>
                        <a:rPr lang="el-GR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υ</a:t>
                      </a: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από το έδαφος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Μεταφορά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Μεταφορά στον κάδο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Ρίψη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l-GR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Άνοιγμα βραχίονα</a:t>
                      </a: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π</a:t>
                      </a:r>
                      <a:r>
                        <a:rPr lang="en-US" sz="12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άνω</a:t>
                      </a: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από τον κάδο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extLst>
                  <a:ext uri="{0D108BD9-81ED-4DB2-BD59-A6C34878D82A}">
                    <ns3:rowId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Μάζεμα &amp; Ρίψη: Πώς Λειτουργεί Πραγματικά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88920" cy="1783080"/>
          </a:xfrm>
          <a:prstGeom prst="rect">
            <a:avLst/>
          </a:prstGeom>
          <a:solidFill>
            <a:srgbClr val="0A1C2D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1155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Ευθυγράμμιση Κάμερας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527048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ρομπότ κεντράρει το αντικείμενο στο πλαίσιο κάμερας χρησιμοποιώντας λεπτές διορθώσεις σε επίπεδο pixel.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88920" cy="1783080"/>
          </a:xfrm>
          <a:prstGeom prst="rect">
            <a:avLst/>
          </a:prstGeom>
          <a:solidFill>
            <a:srgbClr val="0A1C2D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94760" y="11155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Κατέβασμα Βραχίονα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0128" y="1527048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motors κινούν τον arm1–arm5 σε θέση μαζέματος.</a:t>
            </a:r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788920" cy="1783080"/>
          </a:xfrm>
          <a:prstGeom prst="rect">
            <a:avLst/>
          </a:prstGeom>
          <a:solidFill>
            <a:srgbClr val="0A1C2D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20840" y="11155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Κλείσιμο</a:t>
            </a: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l-GR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Βραχίονα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36208" y="1527048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l-GR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βραχίονας </a:t>
            </a:r>
            <a:r>
              <a:rPr lang="en-US" sz="1200" dirty="0" err="1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κλείνει</a:t>
            </a: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φυσικά γύρω από το αντικείμενο. </a:t>
            </a:r>
            <a:r>
              <a:rPr lang="en-US" sz="1200" dirty="0" err="1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Χωρίς</a:t>
            </a: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l-GR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κολλάει η να τηλεμεταφέρεται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2788920" cy="1783080"/>
          </a:xfrm>
          <a:prstGeom prst="rect">
            <a:avLst/>
          </a:prstGeom>
          <a:solidFill>
            <a:srgbClr val="0A1C2D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06324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308152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Ανύψωση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4048" y="3493008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Μετά την ανύψωση, το ρομπότ ελέγχει τη θέση του αντικειμένου για να επιβεβαιώσει ότι πιάστηκε.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2971800"/>
            <a:ext cx="2788920" cy="1783080"/>
          </a:xfrm>
          <a:prstGeom prst="rect">
            <a:avLst/>
          </a:prstGeom>
          <a:solidFill>
            <a:srgbClr val="0A1C2D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91840" y="306324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9184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94760" y="308152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Zone Ρίψη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10128" y="3493008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l-GR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βραχίονας </a:t>
            </a: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r>
              <a:rPr lang="en-US" sz="1200" dirty="0" err="1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νοίγει</a:t>
            </a: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μόνο όταν επιβεβαιωθεί ότι το αντικείμενο βρίσκεται πάνω από την ζώνη του κάδου.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2971800"/>
            <a:ext cx="2788920" cy="1783080"/>
          </a:xfrm>
          <a:prstGeom prst="rect">
            <a:avLst/>
          </a:prstGeom>
          <a:solidFill>
            <a:srgbClr val="0A1C2D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17920" y="306324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1792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20840" y="308152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Επαλήθευση &amp; Συνέχεια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36208" y="3493008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ελεγκτής επαληθεύει ότι το αντικείμενο παρέμεινε μέσα πριν προχωρήσει στον επόμενο στόχο.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Slide 8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Πραγματική Έξοδος: Αρχεία Τηλεμετρίας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2606040"/>
          </a:xfrm>
          <a:prstGeom prst="rect">
            <a:avLst/>
          </a:prstGeom>
          <a:solidFill>
            <a:srgbClr val="0D1B2A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19986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[12.48s] AI VISION — Αντικείμενο εντοπίστηκε</a:t>
            </a:r>
          </a:p>
          <a:p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στόχος=κίτρινο | κάμερα=86% | αισθητήρες=88% | FSM=85%</a:t>
            </a:r>
          </a:p>
          <a:p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[18.72s] NAVIGATION — Ζώνη παραλαβής επιτεύχθηκε</a:t>
            </a:r>
          </a:p>
          <a:p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ευθυγράμμιση=89% | αισθητήρες=87% | FSM=86%</a:t>
            </a:r>
          </a:p>
          <a:p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[24.61s] GRIPPER — Το αντικείμενο ανυψώθηκε με επιτυχία</a:t>
            </a:r>
          </a:p>
          <a:p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grip=88% | lift=89% | FSM=87%</a:t>
            </a:r>
          </a:p>
          <a:p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[31.90s] BIN DROP — Απόθεση μέσα στον κάδο</a:t>
            </a:r>
          </a:p>
          <a:p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bin_detection=90% | τελική απόφαση=88%</a:t>
            </a:r>
          </a:p>
          <a:p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[68.34s] MISSION — Όλα τα απορρίμματα συλλέχθηκαν</a:t>
            </a:r>
          </a:p>
          <a:p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συλλογή=2/2 | τελική απόφαση FSM=86%</a:t>
            </a:r>
          </a:p>
        </p:txBody>
      </p:sp>
      <p:sp>
        <p:nvSpPr>
          <p:cNvPr id="7" name="Text 5"/>
          <p:cNvSpPr/>
          <p:nvPr/>
        </p:nvSpPr>
        <p:spPr>
          <a:xfrm>
            <a:off x="274320" y="3886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σημαίνουν τα ποσοστά: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4251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camera_detection: </a:t>
            </a:r>
            <a:r>
              <a:rPr lang="el-GR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l-GR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r>
              <a:rPr lang="el-GR" sz="1200" dirty="0">
                <a:solidFill>
                  <a:srgbClr val="000000"/>
                </a:solidFill>
              </a:rPr>
              <a:t>ναγνώριση του στόχου μέσα στο περιβάλλον.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617720" y="4251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grip_detection: </a:t>
            </a:r>
            <a:r>
              <a:rPr lang="el-G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Πιθανότητα να έπιασε το σωστό </a:t>
            </a:r>
            <a:r>
              <a:rPr lang="el-GR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αντικέιμενο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6360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bin_detection: </a:t>
            </a:r>
            <a:r>
              <a:rPr lang="el-GR" sz="1200" dirty="0"/>
              <a:t>Βαθμός σιγουριάς ότι το αντικείμενο βρίσκεται πάνω από τον κάδο.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46360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fsm_decision: </a:t>
            </a:r>
            <a:r>
              <a:rPr lang="el-GR" sz="1200" dirty="0"/>
              <a:t>Συνδυαστικό σκορ για την απόφαση του επόμενου βήματος του FSM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Αποτελέσματα &amp; Περιορισμοί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3840480"/>
          </a:xfrm>
          <a:prstGeom prst="rect">
            <a:avLst/>
          </a:prstGeom>
          <a:solidFill>
            <a:srgbClr val="E8F8F0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Τι Λειτουργεί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Εντοπίζει κίτρινα και κόκκινα σκουπίδια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Πιάνει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l-GR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 πραγματικό χρόνο,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χωρίς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τηλεμετ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αφορά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l-GR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Ρίψη μόνο πάνω από την επιφάνεια του κάδου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Επαληθεύει ότι το αντικείμενο παρέμεινε στον κάδο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Διαχειρίζεται επαναλήψεις αν το μάζεμα αποτύχει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l-GR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Λειτουργεί αυτόνομα</a:t>
            </a:r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terminal δείχνει ζωντανά αποτελέσματα εμπιστοσύνης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051560"/>
            <a:ext cx="4297680" cy="3840480"/>
          </a:xfrm>
          <a:prstGeom prst="rect">
            <a:avLst/>
          </a:prstGeom>
          <a:solidFill>
            <a:srgbClr val="FFF3E8"/>
          </a:solidFill>
          <a:ln w="25400">
            <a:solidFill>
              <a:srgbClr val="E88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1704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0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Τρέχοντες Περιορισμοί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Εντοπίζει μόνο βάσει χρώματος</a:t>
            </a:r>
            <a:r>
              <a:rPr lang="el-GR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όχι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σχήμ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ατος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πλοήγηση δεν έχει πλήρη χάρτη / σχεδιασμό διαδρομής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Βραχίονας χρησιμοποιεί σταθερές βαθμονομημένες θέσεις (χωρίς IK)</a:t>
            </a:r>
            <a:endParaRPr lang="en-US" sz="13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έχει δοκιμαστεί σε πραγματικό υλικό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37033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l-GR" sz="1000" i="1" dirty="0">
                <a:solidFill>
                  <a:schemeClr val="accent2">
                    <a:lumMod val="50000"/>
                  </a:schemeClr>
                </a:solidFill>
              </a:rPr>
              <a:t>Μελλοντικές Ιδέες: Χρήση </a:t>
            </a:r>
            <a:r>
              <a:rPr lang="el-GR" sz="1000" i="1" dirty="0" err="1">
                <a:solidFill>
                  <a:schemeClr val="accent2">
                    <a:lumMod val="50000"/>
                  </a:schemeClr>
                </a:solidFill>
              </a:rPr>
              <a:t>Machine</a:t>
            </a:r>
            <a:r>
              <a:rPr lang="el-GR" sz="1000" i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l-GR" sz="1000" i="1" dirty="0" err="1">
                <a:solidFill>
                  <a:schemeClr val="accent2">
                    <a:lumMod val="50000"/>
                  </a:schemeClr>
                </a:solidFill>
              </a:rPr>
              <a:t>Learning</a:t>
            </a:r>
            <a:r>
              <a:rPr lang="el-GR" sz="1000" i="1" dirty="0">
                <a:solidFill>
                  <a:schemeClr val="accent2">
                    <a:lumMod val="50000"/>
                  </a:schemeClr>
                </a:solidFill>
              </a:rPr>
              <a:t> για αναγνώριση απορριμμάτων, πλήρη πλοήγηση SLAM, </a:t>
            </a:r>
            <a:r>
              <a:rPr lang="el-GR" sz="1000" i="1" dirty="0" err="1">
                <a:solidFill>
                  <a:schemeClr val="accent2">
                    <a:lumMod val="50000"/>
                  </a:schemeClr>
                </a:solidFill>
              </a:rPr>
              <a:t>inverse</a:t>
            </a:r>
            <a:r>
              <a:rPr lang="el-GR" sz="1000" i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l-GR" sz="1000" i="1" dirty="0" err="1">
                <a:solidFill>
                  <a:schemeClr val="accent2">
                    <a:lumMod val="50000"/>
                  </a:schemeClr>
                </a:solidFill>
              </a:rPr>
              <a:t>kinematics</a:t>
            </a:r>
            <a:r>
              <a:rPr lang="el-GR" sz="1000" i="1" dirty="0">
                <a:solidFill>
                  <a:schemeClr val="accent2">
                    <a:lumMod val="50000"/>
                  </a:schemeClr>
                </a:solidFill>
              </a:rPr>
              <a:t> για τον ρομποτικό βραχίονα, περισσότερους τύπους απορριμμάτων και τυχαίες θέσεις αντικειμένων.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Συμπέρασμα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κατασκευάσαμε: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645920"/>
            <a:ext cx="2029968" cy="2331720"/>
          </a:xfrm>
          <a:prstGeom prst="rect">
            <a:avLst/>
          </a:prstGeom>
          <a:solidFill>
            <a:srgbClr val="12283A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👁️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228600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Αντίληψη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670048"/>
            <a:ext cx="18470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Κάμερα + αισθητήρες απόστασης διαβάζουν το περιβάλλον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50592" y="1645920"/>
            <a:ext cx="2029968" cy="2331720"/>
          </a:xfrm>
          <a:prstGeom prst="rect">
            <a:avLst/>
          </a:prstGeom>
          <a:solidFill>
            <a:srgbClr val="12283A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50592" y="173736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50592" y="228600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Απόφαση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42032" y="2670048"/>
            <a:ext cx="18470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λογική FSM επιλέγει τη σωστή </a:t>
            </a:r>
            <a:r>
              <a:rPr lang="en-US" sz="12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ενέργει</a:t>
            </a: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26864" y="1645920"/>
            <a:ext cx="2029968" cy="2331720"/>
          </a:xfrm>
          <a:prstGeom prst="rect">
            <a:avLst/>
          </a:prstGeom>
          <a:solidFill>
            <a:srgbClr val="12283A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26864" y="173736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🦾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26864" y="228600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Δράση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18304" y="2670048"/>
            <a:ext cx="18470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 + βραχίονας μαζεύουν τα σκουπίδια</a:t>
            </a:r>
          </a:p>
        </p:txBody>
      </p:sp>
      <p:sp>
        <p:nvSpPr>
          <p:cNvPr id="17" name="Shape 15"/>
          <p:cNvSpPr/>
          <p:nvPr/>
        </p:nvSpPr>
        <p:spPr>
          <a:xfrm>
            <a:off x="6803136" y="1645920"/>
            <a:ext cx="2029968" cy="2331720"/>
          </a:xfrm>
          <a:prstGeom prst="rect">
            <a:avLst/>
          </a:prstGeom>
          <a:solidFill>
            <a:srgbClr val="12283A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03136" y="173736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03136" y="228600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Επαλήθευση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94576" y="2670048"/>
            <a:ext cx="18470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ρομπότ επιβεβαιώνει κάθε </a:t>
            </a:r>
            <a:r>
              <a:rPr lang="el-GR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βήμα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4242163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50" i="1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l-GR" sz="1400" dirty="0"/>
              <a:t> </a:t>
            </a:r>
            <a:r>
              <a:rPr lang="el-GR" sz="1400" i="1" dirty="0">
                <a:solidFill>
                  <a:schemeClr val="bg1">
                    <a:lumMod val="75000"/>
                  </a:schemeClr>
                </a:solidFill>
              </a:rPr>
              <a:t>Αυτό το </a:t>
            </a:r>
            <a:r>
              <a:rPr lang="el-GR" sz="1400" i="1" dirty="0" err="1">
                <a:solidFill>
                  <a:schemeClr val="bg1">
                    <a:lumMod val="75000"/>
                  </a:schemeClr>
                </a:solidFill>
              </a:rPr>
              <a:t>project</a:t>
            </a:r>
            <a:r>
              <a:rPr lang="el-GR" sz="1400" i="1" dirty="0">
                <a:solidFill>
                  <a:schemeClr val="bg1">
                    <a:lumMod val="75000"/>
                  </a:schemeClr>
                </a:solidFill>
              </a:rPr>
              <a:t> δείχνει ότι ακόμη και μια προσομοίωση που δημιουργήθηκε από φοιτητή μπορεί να συνδυάζει όραση υπολογιστή, αισθητήρες, λογική λήψης αποφάσεων και φυσικό χειρισμό αντικειμένων σε ένα πλήρες αυτόνομο σύστημα</a:t>
            </a:r>
            <a:endParaRPr lang="en-US" sz="1250" i="1" dirty="0"/>
          </a:p>
        </p:txBody>
      </p:sp>
      <p:sp>
        <p:nvSpPr>
          <p:cNvPr id="23" name="Shape 2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 name="Slide 8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🕹️  Manual Robot Controls</a:t>
            </a:r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2606040"/>
          </a:xfrm>
          <a:prstGeom prst="rect">
            <a:avLst/>
          </a:prstGeom>
          <a:solidFill>
            <a:srgbClr val="0D1B2A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19986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[0.00s] WEBSERVER — manual control panel started</a:t>
            </a:r>
          </a:p>
          <a:p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url=http://127.0.0.1:8765</a:t>
            </a:r>
          </a:p>
          <a:p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</a:p>
          <a:p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Χρήση: debugging και testing χωρίς να αντικαθιστά την αυτόνομη λειτουργία.</a:t>
            </a:r>
          </a:p>
          <a:p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 mode ON/OFF</a:t>
            </a:r>
          </a:p>
          <a:p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Κίνηση βάσης: forward / back / strafe / turn</a:t>
            </a:r>
          </a:p>
          <a:p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 presets: reset, pickup, lift, transport, bin drop</a:t>
            </a:r>
          </a:p>
          <a:p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Gripper: open / close</a:t>
            </a:r>
          </a:p>
          <a:p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status JSON: FSM state, selected target, sensors, arm joints</a:t>
            </a:r>
          </a:p>
        </p:txBody>
      </p:sp>
      <p:sp>
        <p:nvSpPr>
          <p:cNvPr id="7" name="Text 5"/>
          <p:cNvSpPr/>
          <p:nvPr/>
        </p:nvSpPr>
        <p:spPr>
          <a:xfrm>
            <a:off x="274320" y="3886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προσφέρει το manual panel:</a:t>
            </a:r>
          </a:p>
        </p:txBody>
      </p:sp>
      <p:sp>
        <p:nvSpPr>
          <p:cNvPr id="8" name="Text 6"/>
          <p:cNvSpPr/>
          <p:nvPr/>
        </p:nvSpPr>
        <p:spPr>
          <a:xfrm>
            <a:off x="274320" y="4251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debugging:</a:t>
            </a:r>
          </a:p>
          <a:p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βλέπουμε live την κατάσταση FSM, τον στόχο και τις τιμές αισθητήρων.</a:t>
            </a:r>
          </a:p>
        </p:txBody>
      </p:sp>
      <p:sp>
        <p:nvSpPr>
          <p:cNvPr id="9" name="Text 7"/>
          <p:cNvSpPr/>
          <p:nvPr/>
        </p:nvSpPr>
        <p:spPr>
          <a:xfrm>
            <a:off x="4617720" y="4251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</a:t>
            </a:r>
          </a:p>
          <a:p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δοκιμάζουμε βάση, βραχίονα και δαγκάνα πριν τρέξει ο πλήρης αυτοματισμός.</a:t>
            </a:r>
          </a:p>
        </p:txBody>
      </p:sp>
      <p:sp>
        <p:nvSpPr>
          <p:cNvPr id="10" name="Text 8"/>
          <p:cNvSpPr/>
          <p:nvPr/>
        </p:nvSpPr>
        <p:spPr>
          <a:xfrm>
            <a:off x="274320" y="46360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calibration:</a:t>
            </a:r>
          </a:p>
          <a:p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βρίσκουμε σωστά σημεία pickup/drop για πιο σταθερή συλλογή.</a:t>
            </a:r>
          </a:p>
        </p:txBody>
      </p:sp>
      <p:sp>
        <p:nvSpPr>
          <p:cNvPr id="11" name="Text 9"/>
          <p:cNvSpPr/>
          <p:nvPr/>
        </p:nvSpPr>
        <p:spPr>
          <a:xfrm>
            <a:off x="4617720" y="46360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σημαντικό:</a:t>
            </a:r>
          </a:p>
          <a:p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είναι εργαλείο ελέγχου και όχι αντικατάσταση της αυτόνομης FSM λειτουργίας.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ns1="http://schemas.openxmlformats.org/officeDocument/2006/docPropsVTypes">
  <TotalTime>83</TotalTime>
  <Words>1071</Words>
  <Application>Microsoft Office PowerPoint</Application>
  <PresentationFormat>On-screen Show (16:9)</PresentationFormat>
  <Paragraphs>167</Paragraphs>
  <Slides>11</Slides>
  <Notes>10</Notes>
  <HiddenSlides>0</HiddenSlides>
  <MMClips>0</MMClips>
  <ScaleCrop>false</ScaleCrop>
  <HeadingPairs>
    <ns1:vector size="6" baseType="variant">
      <ns1:variant>
        <ns1:lpstr>Fonts Used</ns1:lpstr>
      </ns1:variant>
      <ns1:variant>
        <ns1:i4>3</ns1:i4>
      </ns1:variant>
      <ns1:variant>
        <ns1:lpstr>Theme</ns1:lpstr>
      </ns1:variant>
      <ns1:variant>
        <ns1:i4>1</ns1:i4>
      </ns1:variant>
      <ns1:variant>
        <ns1:lpstr>Slide Titles</ns1:lpstr>
      </ns1:variant>
      <ns1:variant>
        <ns1:i4>10</ns1:i4>
      </ns1:variant>
    </ns1:vector>
  </HeadingPairs>
  <TitlesOfParts>
    <ns1:vector size="14" baseType="lpstr">
      <ns1:lpstr>Arial</ns1:lpstr>
      <ns1:lpstr>Calibri</ns1:lpstr>
      <ns1:lpstr>Consolas</ns1:lpstr>
      <ns1:lpstr>Office Theme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</ns1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Trash Collector Robot</dc:title>
  <dc:subject>PptxGenJS Presentation</dc:subject>
  <dc:creator>PptxGenJS</dc:creator>
  <cp:lastModifiedBy>stavros moschis</cp:lastModifiedBy>
  <cp:revision>16</cp:revision>
  <dcterms:created xsi:type="dcterms:W3CDTF">2026-05-24T20:30:10Z</dcterms:created>
  <dcterms:modified xsi:type="dcterms:W3CDTF">2026-05-26T18:52:31Z</dcterms:modified>
</cp:coreProperties>
</file>